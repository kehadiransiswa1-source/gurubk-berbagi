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65" r:id="rId6"/>
    <p:sldId id="264" r:id="rId7"/>
    <p:sldId id="268" r:id="rId8"/>
    <p:sldId id="269" r:id="rId9"/>
    <p:sldId id="270" r:id="rId10"/>
    <p:sldId id="271" r:id="rId11"/>
    <p:sldId id="266" r:id="rId12"/>
    <p:sldId id="272"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64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sv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1.sv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9745706" y="4663193"/>
            <a:ext cx="9881405" cy="9844349"/>
          </a:xfrm>
          <a:custGeom>
            <a:avLst/>
            <a:gdLst/>
            <a:ahLst/>
            <a:cxnLst/>
            <a:rect l="l" t="t" r="r" b="b"/>
            <a:pathLst>
              <a:path w="9881405" h="9844349">
                <a:moveTo>
                  <a:pt x="0" y="0"/>
                </a:moveTo>
                <a:lnTo>
                  <a:pt x="9881405" y="0"/>
                </a:lnTo>
                <a:lnTo>
                  <a:pt x="9881405" y="9844349"/>
                </a:lnTo>
                <a:lnTo>
                  <a:pt x="0" y="98443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879028" y="7835696"/>
            <a:ext cx="11689631" cy="1021475"/>
            <a:chOff x="0" y="0"/>
            <a:chExt cx="3078750" cy="269031"/>
          </a:xfrm>
        </p:grpSpPr>
        <p:sp>
          <p:nvSpPr>
            <p:cNvPr id="4" name="Freeform 4"/>
            <p:cNvSpPr/>
            <p:nvPr/>
          </p:nvSpPr>
          <p:spPr>
            <a:xfrm>
              <a:off x="0" y="0"/>
              <a:ext cx="3078750" cy="269031"/>
            </a:xfrm>
            <a:custGeom>
              <a:avLst/>
              <a:gdLst/>
              <a:ahLst/>
              <a:cxnLst/>
              <a:rect l="l" t="t" r="r" b="b"/>
              <a:pathLst>
                <a:path w="3078750" h="269031">
                  <a:moveTo>
                    <a:pt x="28478" y="0"/>
                  </a:moveTo>
                  <a:lnTo>
                    <a:pt x="3050272" y="0"/>
                  </a:lnTo>
                  <a:cubicBezTo>
                    <a:pt x="3057825" y="0"/>
                    <a:pt x="3065069" y="3000"/>
                    <a:pt x="3070409" y="8341"/>
                  </a:cubicBezTo>
                  <a:cubicBezTo>
                    <a:pt x="3075750" y="13682"/>
                    <a:pt x="3078750" y="20925"/>
                    <a:pt x="3078750" y="28478"/>
                  </a:cubicBezTo>
                  <a:lnTo>
                    <a:pt x="3078750" y="240552"/>
                  </a:lnTo>
                  <a:cubicBezTo>
                    <a:pt x="3078750" y="256280"/>
                    <a:pt x="3066000" y="269031"/>
                    <a:pt x="3050272" y="269031"/>
                  </a:cubicBezTo>
                  <a:lnTo>
                    <a:pt x="28478" y="269031"/>
                  </a:lnTo>
                  <a:cubicBezTo>
                    <a:pt x="20925" y="269031"/>
                    <a:pt x="13682" y="266030"/>
                    <a:pt x="8341" y="260689"/>
                  </a:cubicBezTo>
                  <a:cubicBezTo>
                    <a:pt x="3000" y="255349"/>
                    <a:pt x="0" y="248105"/>
                    <a:pt x="0" y="240552"/>
                  </a:cubicBezTo>
                  <a:lnTo>
                    <a:pt x="0" y="28478"/>
                  </a:lnTo>
                  <a:cubicBezTo>
                    <a:pt x="0" y="12750"/>
                    <a:pt x="12750" y="0"/>
                    <a:pt x="28478" y="0"/>
                  </a:cubicBezTo>
                  <a:close/>
                </a:path>
              </a:pathLst>
            </a:custGeom>
            <a:solidFill>
              <a:srgbClr val="000000">
                <a:alpha val="0"/>
              </a:srgbClr>
            </a:solidFill>
            <a:ln w="19050" cap="rnd">
              <a:solidFill>
                <a:srgbClr val="372A28"/>
              </a:solidFill>
              <a:prstDash val="solid"/>
              <a:round/>
            </a:ln>
          </p:spPr>
        </p:sp>
        <p:sp>
          <p:nvSpPr>
            <p:cNvPr id="5" name="TextBox 5"/>
            <p:cNvSpPr txBox="1"/>
            <p:nvPr/>
          </p:nvSpPr>
          <p:spPr>
            <a:xfrm>
              <a:off x="0" y="-38100"/>
              <a:ext cx="3078750" cy="30713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7361892" y="-4144491"/>
            <a:ext cx="9881405" cy="9844349"/>
          </a:xfrm>
          <a:custGeom>
            <a:avLst/>
            <a:gdLst/>
            <a:ahLst/>
            <a:cxnLst/>
            <a:rect l="l" t="t" r="r" b="b"/>
            <a:pathLst>
              <a:path w="9881405" h="9844349">
                <a:moveTo>
                  <a:pt x="0" y="0"/>
                </a:moveTo>
                <a:lnTo>
                  <a:pt x="9881405" y="0"/>
                </a:lnTo>
                <a:lnTo>
                  <a:pt x="9881405" y="9844349"/>
                </a:lnTo>
                <a:lnTo>
                  <a:pt x="0" y="98443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879028" y="1600948"/>
            <a:ext cx="2430367" cy="565060"/>
          </a:xfrm>
          <a:custGeom>
            <a:avLst/>
            <a:gdLst/>
            <a:ahLst/>
            <a:cxnLst/>
            <a:rect l="l" t="t" r="r" b="b"/>
            <a:pathLst>
              <a:path w="2430367" h="565060">
                <a:moveTo>
                  <a:pt x="0" y="0"/>
                </a:moveTo>
                <a:lnTo>
                  <a:pt x="2430366" y="0"/>
                </a:lnTo>
                <a:lnTo>
                  <a:pt x="2430366" y="565060"/>
                </a:lnTo>
                <a:lnTo>
                  <a:pt x="0" y="5650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52460">
            <a:off x="10275899" y="1578214"/>
            <a:ext cx="1624303" cy="1175589"/>
          </a:xfrm>
          <a:custGeom>
            <a:avLst/>
            <a:gdLst/>
            <a:ahLst/>
            <a:cxnLst/>
            <a:rect l="l" t="t" r="r" b="b"/>
            <a:pathLst>
              <a:path w="1624303" h="1175589">
                <a:moveTo>
                  <a:pt x="0" y="0"/>
                </a:moveTo>
                <a:lnTo>
                  <a:pt x="1624303" y="0"/>
                </a:lnTo>
                <a:lnTo>
                  <a:pt x="1624303" y="1175589"/>
                </a:lnTo>
                <a:lnTo>
                  <a:pt x="0" y="11755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6608667" y="1584710"/>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1088051" y="1600948"/>
            <a:ext cx="5683090" cy="11423296"/>
          </a:xfrm>
          <a:custGeom>
            <a:avLst/>
            <a:gdLst/>
            <a:ahLst/>
            <a:cxnLst/>
            <a:rect l="l" t="t" r="r" b="b"/>
            <a:pathLst>
              <a:path w="5683090" h="11423296">
                <a:moveTo>
                  <a:pt x="0" y="0"/>
                </a:moveTo>
                <a:lnTo>
                  <a:pt x="5683090" y="0"/>
                </a:lnTo>
                <a:lnTo>
                  <a:pt x="5683090" y="11423296"/>
                </a:lnTo>
                <a:lnTo>
                  <a:pt x="0" y="114232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879028" y="5725224"/>
            <a:ext cx="8691365" cy="1219634"/>
          </a:xfrm>
          <a:prstGeom prst="rect">
            <a:avLst/>
          </a:prstGeom>
        </p:spPr>
        <p:txBody>
          <a:bodyPr lIns="0" tIns="0" rIns="0" bIns="0" rtlCol="0" anchor="t">
            <a:spAutoFit/>
          </a:bodyPr>
          <a:lstStyle/>
          <a:p>
            <a:pPr algn="l">
              <a:lnSpc>
                <a:spcPts val="8905"/>
              </a:lnSpc>
              <a:spcBef>
                <a:spcPct val="0"/>
              </a:spcBef>
            </a:pPr>
            <a:r>
              <a:rPr lang="en-US" sz="6360">
                <a:solidFill>
                  <a:srgbClr val="372A28"/>
                </a:solidFill>
                <a:latin typeface="Adolescence"/>
                <a:ea typeface="Adolescence"/>
                <a:cs typeface="Adolescence"/>
                <a:sym typeface="Adolescence"/>
              </a:rPr>
              <a:t>Kunci Hidup Seimbang dan Bahagia</a:t>
            </a:r>
          </a:p>
        </p:txBody>
      </p:sp>
      <p:sp>
        <p:nvSpPr>
          <p:cNvPr id="12" name="TextBox 12"/>
          <p:cNvSpPr txBox="1"/>
          <p:nvPr/>
        </p:nvSpPr>
        <p:spPr>
          <a:xfrm>
            <a:off x="1879028" y="2604143"/>
            <a:ext cx="9459278" cy="3378088"/>
          </a:xfrm>
          <a:prstGeom prst="rect">
            <a:avLst/>
          </a:prstGeom>
        </p:spPr>
        <p:txBody>
          <a:bodyPr lIns="0" tIns="0" rIns="0" bIns="0" rtlCol="0" anchor="t">
            <a:spAutoFit/>
          </a:bodyPr>
          <a:lstStyle/>
          <a:p>
            <a:pPr algn="l">
              <a:lnSpc>
                <a:spcPts val="13050"/>
              </a:lnSpc>
            </a:pPr>
            <a:r>
              <a:rPr lang="en-US" sz="11864" b="1">
                <a:solidFill>
                  <a:srgbClr val="003395"/>
                </a:solidFill>
                <a:latin typeface="Ahkio Bold"/>
                <a:ea typeface="Ahkio Bold"/>
                <a:cs typeface="Ahkio Bold"/>
                <a:sym typeface="Ahkio Bold"/>
              </a:rPr>
              <a:t>Kelola </a:t>
            </a:r>
          </a:p>
          <a:p>
            <a:pPr algn="l">
              <a:lnSpc>
                <a:spcPts val="13050"/>
              </a:lnSpc>
            </a:pPr>
            <a:r>
              <a:rPr lang="en-US" sz="11864" b="1">
                <a:solidFill>
                  <a:srgbClr val="003395"/>
                </a:solidFill>
                <a:latin typeface="Ahkio Bold"/>
                <a:ea typeface="Ahkio Bold"/>
                <a:cs typeface="Ahkio Bold"/>
                <a:sym typeface="Ahkio Bold"/>
              </a:rPr>
              <a:t>Emosi</a:t>
            </a:r>
          </a:p>
        </p:txBody>
      </p:sp>
      <p:sp>
        <p:nvSpPr>
          <p:cNvPr id="13" name="TextBox 13"/>
          <p:cNvSpPr txBox="1"/>
          <p:nvPr/>
        </p:nvSpPr>
        <p:spPr>
          <a:xfrm>
            <a:off x="2226675" y="7835696"/>
            <a:ext cx="6562590" cy="483886"/>
          </a:xfrm>
          <a:prstGeom prst="rect">
            <a:avLst/>
          </a:prstGeom>
        </p:spPr>
        <p:txBody>
          <a:bodyPr lIns="0" tIns="0" rIns="0" bIns="0" rtlCol="0" anchor="t">
            <a:spAutoFit/>
          </a:bodyPr>
          <a:lstStyle/>
          <a:p>
            <a:pPr algn="l">
              <a:lnSpc>
                <a:spcPts val="3902"/>
              </a:lnSpc>
              <a:spcBef>
                <a:spcPct val="0"/>
              </a:spcBef>
            </a:pPr>
            <a:r>
              <a:rPr lang="en-US" sz="2787" dirty="0" err="1">
                <a:solidFill>
                  <a:srgbClr val="372A28"/>
                </a:solidFill>
                <a:latin typeface="Ahkio Thin"/>
                <a:ea typeface="Ahkio Thin"/>
                <a:cs typeface="Ahkio Thin"/>
                <a:sym typeface="Ahkio Thin"/>
              </a:rPr>
              <a:t>Mengapa</a:t>
            </a:r>
            <a:r>
              <a:rPr lang="en-US" sz="2787" dirty="0">
                <a:solidFill>
                  <a:srgbClr val="372A28"/>
                </a:solidFill>
                <a:latin typeface="Ahkio Thin"/>
                <a:ea typeface="Ahkio Thin"/>
                <a:cs typeface="Ahkio Thin"/>
                <a:sym typeface="Ahkio Thin"/>
              </a:rPr>
              <a:t> </a:t>
            </a:r>
            <a:r>
              <a:rPr lang="en-US" sz="2787" dirty="0" err="1">
                <a:solidFill>
                  <a:srgbClr val="372A28"/>
                </a:solidFill>
                <a:latin typeface="Ahkio Thin"/>
                <a:ea typeface="Ahkio Thin"/>
                <a:cs typeface="Ahkio Thin"/>
                <a:sym typeface="Ahkio Thin"/>
              </a:rPr>
              <a:t>penting</a:t>
            </a:r>
            <a:r>
              <a:rPr lang="en-US" sz="2787" dirty="0">
                <a:solidFill>
                  <a:srgbClr val="372A28"/>
                </a:solidFill>
                <a:latin typeface="Ahkio Thin"/>
                <a:ea typeface="Ahkio Thin"/>
                <a:cs typeface="Ahkio Thin"/>
                <a:sym typeface="Ahkio Thin"/>
              </a:rPr>
              <a:t> </a:t>
            </a:r>
            <a:r>
              <a:rPr lang="en-US" sz="2787" dirty="0" err="1">
                <a:solidFill>
                  <a:srgbClr val="372A28"/>
                </a:solidFill>
                <a:latin typeface="Ahkio Thin"/>
                <a:ea typeface="Ahkio Thin"/>
                <a:cs typeface="Ahkio Thin"/>
                <a:sym typeface="Ahkio Thin"/>
              </a:rPr>
              <a:t>memahami</a:t>
            </a:r>
            <a:r>
              <a:rPr lang="en-US" sz="2787" dirty="0">
                <a:solidFill>
                  <a:srgbClr val="372A28"/>
                </a:solidFill>
                <a:latin typeface="Ahkio Thin"/>
                <a:ea typeface="Ahkio Thin"/>
                <a:cs typeface="Ahkio Thin"/>
                <a:sym typeface="Ahkio Thin"/>
              </a:rPr>
              <a:t> dan </a:t>
            </a:r>
            <a:r>
              <a:rPr lang="en-US" sz="2787" dirty="0" err="1">
                <a:solidFill>
                  <a:srgbClr val="372A28"/>
                </a:solidFill>
                <a:latin typeface="Ahkio Thin"/>
                <a:ea typeface="Ahkio Thin"/>
                <a:cs typeface="Ahkio Thin"/>
                <a:sym typeface="Ahkio Thin"/>
              </a:rPr>
              <a:t>mengelola</a:t>
            </a:r>
            <a:r>
              <a:rPr lang="en-US" sz="2787" dirty="0">
                <a:solidFill>
                  <a:srgbClr val="372A28"/>
                </a:solidFill>
                <a:latin typeface="Ahkio Thin"/>
                <a:ea typeface="Ahkio Thin"/>
                <a:cs typeface="Ahkio Thin"/>
                <a:sym typeface="Ahkio Thin"/>
              </a:rPr>
              <a:t> </a:t>
            </a:r>
            <a:r>
              <a:rPr lang="en-US" sz="2787" dirty="0" err="1">
                <a:solidFill>
                  <a:srgbClr val="372A28"/>
                </a:solidFill>
                <a:latin typeface="Ahkio Thin"/>
                <a:ea typeface="Ahkio Thin"/>
                <a:cs typeface="Ahkio Thin"/>
                <a:sym typeface="Ahkio Thin"/>
              </a:rPr>
              <a:t>emosi</a:t>
            </a:r>
            <a:r>
              <a:rPr lang="en-US" sz="2787" dirty="0">
                <a:solidFill>
                  <a:srgbClr val="372A28"/>
                </a:solidFill>
                <a:latin typeface="Ahkio Thin"/>
                <a:ea typeface="Ahkio Thin"/>
                <a:cs typeface="Ahkio Thin"/>
                <a:sym typeface="Ahkio Thin"/>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1600200" y="3431130"/>
            <a:ext cx="9870628" cy="9833613"/>
          </a:xfrm>
          <a:custGeom>
            <a:avLst/>
            <a:gdLst/>
            <a:ahLst/>
            <a:cxnLst/>
            <a:rect l="l" t="t" r="r" b="b"/>
            <a:pathLst>
              <a:path w="9870628" h="9833613">
                <a:moveTo>
                  <a:pt x="0" y="0"/>
                </a:moveTo>
                <a:lnTo>
                  <a:pt x="9870628" y="0"/>
                </a:lnTo>
                <a:lnTo>
                  <a:pt x="9870628" y="9833613"/>
                </a:lnTo>
                <a:lnTo>
                  <a:pt x="0" y="9833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034627"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939063"/>
            <a:ext cx="3420558" cy="7395801"/>
          </a:xfrm>
          <a:custGeom>
            <a:avLst/>
            <a:gdLst/>
            <a:ahLst/>
            <a:cxnLst/>
            <a:rect l="l" t="t" r="r" b="b"/>
            <a:pathLst>
              <a:path w="3420558" h="7395801">
                <a:moveTo>
                  <a:pt x="0" y="0"/>
                </a:moveTo>
                <a:lnTo>
                  <a:pt x="3420558" y="0"/>
                </a:lnTo>
                <a:lnTo>
                  <a:pt x="3420558" y="7395802"/>
                </a:lnTo>
                <a:lnTo>
                  <a:pt x="0" y="739580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15067550" y="9036097"/>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4821555" y="348891"/>
            <a:ext cx="7032090" cy="769441"/>
          </a:xfrm>
          <a:prstGeom prst="rect">
            <a:avLst/>
          </a:prstGeom>
        </p:spPr>
        <p:txBody>
          <a:bodyPr lIns="0" tIns="0" rIns="0" bIns="0" rtlCol="0" anchor="t">
            <a:spAutoFit/>
          </a:bodyPr>
          <a:lstStyle/>
          <a:p>
            <a:pPr algn="l">
              <a:lnSpc>
                <a:spcPts val="6009"/>
              </a:lnSpc>
            </a:pPr>
            <a:r>
              <a:rPr lang="en-US" sz="5463" b="1" dirty="0" err="1">
                <a:solidFill>
                  <a:srgbClr val="003395"/>
                </a:solidFill>
                <a:latin typeface="Ahkio Bold"/>
                <a:ea typeface="Ahkio Bold"/>
                <a:cs typeface="Ahkio Bold"/>
                <a:sym typeface="Ahkio Bold"/>
              </a:rPr>
              <a:t>Pengertian</a:t>
            </a:r>
            <a:r>
              <a:rPr lang="en-US" sz="5463" b="1" dirty="0">
                <a:solidFill>
                  <a:srgbClr val="003395"/>
                </a:solidFill>
                <a:latin typeface="Ahkio Bold"/>
                <a:ea typeface="Ahkio Bold"/>
                <a:cs typeface="Ahkio Bold"/>
                <a:sym typeface="Ahkio Bold"/>
              </a:rPr>
              <a:t> </a:t>
            </a:r>
            <a:r>
              <a:rPr lang="en-US" sz="5463" b="1" dirty="0" err="1">
                <a:solidFill>
                  <a:srgbClr val="003395"/>
                </a:solidFill>
                <a:latin typeface="Ahkio Bold"/>
                <a:ea typeface="Ahkio Bold"/>
                <a:cs typeface="Ahkio Bold"/>
                <a:sym typeface="Ahkio Bold"/>
              </a:rPr>
              <a:t>Emosi</a:t>
            </a:r>
            <a:endParaRPr lang="en-US" sz="5463" b="1" dirty="0">
              <a:solidFill>
                <a:srgbClr val="003395"/>
              </a:solidFill>
              <a:latin typeface="Ahkio Bold"/>
              <a:ea typeface="Ahkio Bold"/>
              <a:cs typeface="Ahkio Bold"/>
              <a:sym typeface="Ahkio Bold"/>
            </a:endParaRPr>
          </a:p>
        </p:txBody>
      </p:sp>
      <p:sp>
        <p:nvSpPr>
          <p:cNvPr id="8" name="Rectangle 7">
            <a:extLst>
              <a:ext uri="{FF2B5EF4-FFF2-40B4-BE49-F238E27FC236}">
                <a16:creationId xmlns:a16="http://schemas.microsoft.com/office/drawing/2014/main" id="{A15517A0-EB6C-4831-BF39-DF813C067256}"/>
              </a:ext>
            </a:extLst>
          </p:cNvPr>
          <p:cNvSpPr/>
          <p:nvPr/>
        </p:nvSpPr>
        <p:spPr>
          <a:xfrm>
            <a:off x="4821554" y="1866900"/>
            <a:ext cx="8894445" cy="3847207"/>
          </a:xfrm>
          <a:prstGeom prst="rect">
            <a:avLst/>
          </a:prstGeom>
        </p:spPr>
        <p:txBody>
          <a:bodyPr wrap="square">
            <a:spAutoFit/>
          </a:bodyPr>
          <a:lstStyle/>
          <a:p>
            <a:pPr>
              <a:buFont typeface="Arial" panose="020B0604020202020204" pitchFamily="34" charset="0"/>
              <a:buChar char="•"/>
            </a:pPr>
            <a:r>
              <a:rPr lang="id-ID" sz="4000" b="1" dirty="0"/>
              <a:t>Emosi</a:t>
            </a:r>
            <a:r>
              <a:rPr lang="id-ID" sz="4000" dirty="0"/>
              <a:t> adalah perasaan yang muncul sebagai respons terhadap situasi tertentu, seperti senang, sedih, marah, atau takut.</a:t>
            </a:r>
          </a:p>
          <a:p>
            <a:pPr>
              <a:buFont typeface="Arial" panose="020B0604020202020204" pitchFamily="34" charset="0"/>
              <a:buChar char="•"/>
            </a:pPr>
            <a:r>
              <a:rPr lang="id-ID" sz="4000" dirty="0"/>
              <a:t>Emosi </a:t>
            </a:r>
            <a:r>
              <a:rPr lang="en-US" sz="4000" dirty="0"/>
              <a:t>juga</a:t>
            </a:r>
            <a:r>
              <a:rPr lang="id-ID" sz="4000" dirty="0"/>
              <a:t> bagian alami dari diri kita, tapi perlu dikelola agar tidak merugikan diri sendiri atau orang lain</a:t>
            </a:r>
            <a:r>
              <a:rPr lang="id-ID" sz="4400" dirty="0"/>
              <a:t>.</a:t>
            </a:r>
          </a:p>
        </p:txBody>
      </p:sp>
      <p:sp>
        <p:nvSpPr>
          <p:cNvPr id="10" name="Rectangle 2">
            <a:extLst>
              <a:ext uri="{FF2B5EF4-FFF2-40B4-BE49-F238E27FC236}">
                <a16:creationId xmlns:a16="http://schemas.microsoft.com/office/drawing/2014/main" id="{20D149CF-DA28-475A-B3C3-984D21D7C42D}"/>
              </a:ext>
            </a:extLst>
          </p:cNvPr>
          <p:cNvSpPr>
            <a:spLocks noChangeArrowheads="1"/>
          </p:cNvSpPr>
          <p:nvPr/>
        </p:nvSpPr>
        <p:spPr bwMode="auto">
          <a:xfrm>
            <a:off x="4953000" y="5988904"/>
            <a:ext cx="6431569"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id-ID" altLang="id-ID" sz="2800" b="0" i="0" u="none" strike="noStrike" cap="none" normalizeH="0" baseline="0" dirty="0">
                <a:ln>
                  <a:noFill/>
                </a:ln>
                <a:solidFill>
                  <a:schemeClr val="tx1"/>
                </a:solidFill>
                <a:effectLst/>
                <a:latin typeface="Arial" panose="020B0604020202020204" pitchFamily="34" charset="0"/>
              </a:rPr>
              <a:t>Contoh: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d-ID" altLang="id-ID" sz="2800" b="0" i="0" u="none" strike="noStrike" cap="none" normalizeH="0" baseline="0" dirty="0">
                <a:ln>
                  <a:noFill/>
                </a:ln>
                <a:solidFill>
                  <a:schemeClr val="tx1"/>
                </a:solidFill>
                <a:effectLst/>
                <a:latin typeface="Arial" panose="020B0604020202020204" pitchFamily="34" charset="0"/>
              </a:rPr>
              <a:t>Senang saat mendapat nilai bagus.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d-ID" altLang="id-ID" sz="2800" b="0" i="0" u="none" strike="noStrike" cap="none" normalizeH="0" baseline="0" dirty="0">
                <a:ln>
                  <a:noFill/>
                </a:ln>
                <a:solidFill>
                  <a:schemeClr val="tx1"/>
                </a:solidFill>
                <a:effectLst/>
                <a:latin typeface="Arial" panose="020B0604020202020204" pitchFamily="34" charset="0"/>
              </a:rPr>
              <a:t>Marah saat bertengkar dengan teman.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d-ID" altLang="id-ID"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8760125" y="2628637"/>
            <a:ext cx="10759420" cy="10719072"/>
          </a:xfrm>
          <a:custGeom>
            <a:avLst/>
            <a:gdLst/>
            <a:ahLst/>
            <a:cxnLst/>
            <a:rect l="l" t="t" r="r" b="b"/>
            <a:pathLst>
              <a:path w="10759420" h="10719072">
                <a:moveTo>
                  <a:pt x="0" y="0"/>
                </a:moveTo>
                <a:lnTo>
                  <a:pt x="10759420" y="0"/>
                </a:lnTo>
                <a:lnTo>
                  <a:pt x="10759420" y="10719072"/>
                </a:lnTo>
                <a:lnTo>
                  <a:pt x="0" y="107190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922740" y="1573166"/>
            <a:ext cx="5141162" cy="8713834"/>
          </a:xfrm>
          <a:custGeom>
            <a:avLst/>
            <a:gdLst/>
            <a:ahLst/>
            <a:cxnLst/>
            <a:rect l="l" t="t" r="r" b="b"/>
            <a:pathLst>
              <a:path w="5141162" h="8713834">
                <a:moveTo>
                  <a:pt x="0" y="0"/>
                </a:moveTo>
                <a:lnTo>
                  <a:pt x="5141162" y="0"/>
                </a:lnTo>
                <a:lnTo>
                  <a:pt x="5141162" y="8713834"/>
                </a:lnTo>
                <a:lnTo>
                  <a:pt x="0" y="87138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Rectangle 11">
            <a:extLst>
              <a:ext uri="{FF2B5EF4-FFF2-40B4-BE49-F238E27FC236}">
                <a16:creationId xmlns:a16="http://schemas.microsoft.com/office/drawing/2014/main" id="{B7E1FC5E-076E-45D4-85DD-EBD4320622CD}"/>
              </a:ext>
            </a:extLst>
          </p:cNvPr>
          <p:cNvSpPr/>
          <p:nvPr/>
        </p:nvSpPr>
        <p:spPr>
          <a:xfrm>
            <a:off x="4800600" y="190500"/>
            <a:ext cx="3135025" cy="769441"/>
          </a:xfrm>
          <a:prstGeom prst="rect">
            <a:avLst/>
          </a:prstGeom>
        </p:spPr>
        <p:txBody>
          <a:bodyPr wrap="none">
            <a:spAutoFit/>
          </a:bodyPr>
          <a:lstStyle/>
          <a:p>
            <a:r>
              <a:rPr lang="id-ID" sz="4400" b="1" dirty="0"/>
              <a:t>Studi Kasus: </a:t>
            </a:r>
          </a:p>
        </p:txBody>
      </p:sp>
      <p:sp>
        <p:nvSpPr>
          <p:cNvPr id="14" name="Rectangle 13">
            <a:extLst>
              <a:ext uri="{FF2B5EF4-FFF2-40B4-BE49-F238E27FC236}">
                <a16:creationId xmlns:a16="http://schemas.microsoft.com/office/drawing/2014/main" id="{78DDFBD2-FBDE-42FE-9F44-ADC10EA3495D}"/>
              </a:ext>
            </a:extLst>
          </p:cNvPr>
          <p:cNvSpPr/>
          <p:nvPr/>
        </p:nvSpPr>
        <p:spPr>
          <a:xfrm>
            <a:off x="457200" y="1573166"/>
            <a:ext cx="13258800" cy="7848302"/>
          </a:xfrm>
          <a:prstGeom prst="rect">
            <a:avLst/>
          </a:prstGeom>
        </p:spPr>
        <p:txBody>
          <a:bodyPr wrap="square">
            <a:spAutoFit/>
          </a:bodyPr>
          <a:lstStyle/>
          <a:p>
            <a:r>
              <a:rPr lang="id-ID" sz="2800" b="1" dirty="0"/>
              <a:t>Deskripsi Kasus</a:t>
            </a:r>
          </a:p>
          <a:p>
            <a:r>
              <a:rPr lang="id-ID" sz="2800" dirty="0"/>
              <a:t>Pada pagi hari di bulan Oktober 2025, Toni bangun pagi untuk berangkat sekolah seperti biasa. Namun, ia menghadapi beberapa kendala berturut-turut yang membuatnya semakin kesal. Pertama, alarm ponselnya tidak berbunyi karena baterai habis semalam, sehingga ia terbangun terlambat 20 menit. Saat buru-buru mandi, air mati mendadak karena ada pemeliharaan pipa di lingkungan rumahnya, membuatnya harus mandi dengan air dingin yang minim. Kemudian, saat hendak sarapan, ia menemukan bahwa roti favoritnya habis, dan ibunya lupa membeli stok baru.</a:t>
            </a:r>
          </a:p>
          <a:p>
            <a:r>
              <a:rPr lang="id-ID" sz="2800" dirty="0"/>
              <a:t>Lebih parah lagi, saat berjalan ke halte bus sekolah, hujan deras tiba-tiba turun tanpa peringatan, dan Toni lupa membawa payung. Ia basah kuyup dan harus menunggu bus yang telat 15 menit karena lalu lintas macet akibat hujan. Di bus, tempat duduk penuh, sehingga ia berdiri sepanjang perjalanan sambil memegang tas basah. Semua kendala ini membuat Toni merasa sangat kesal dan frustrasi. Saat tiba di sekolah, ia sudah terlambat 10 menit, dan guru mata pelajaran pertama menegurnya di depan kelas. Toni meledak emosi: ia membanting tasnya ke meja, berteriak "Ini semua salah hujan dan bus bodoh!", dan menangis karena merasa hari itu sudah rusak. Kekesalannya berlanjut sepanjang hari, membuatnya sulit berkonsentrasi di kelas dan bertengkar kecil dengan teman yang mencoba menenangkannya.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60125" y="2628637"/>
            <a:ext cx="10759420" cy="10719072"/>
          </a:xfrm>
          <a:custGeom>
            <a:avLst/>
            <a:gdLst/>
            <a:ahLst/>
            <a:cxnLst/>
            <a:rect l="l" t="t" r="r" b="b"/>
            <a:pathLst>
              <a:path w="10759420" h="10719072">
                <a:moveTo>
                  <a:pt x="0" y="0"/>
                </a:moveTo>
                <a:lnTo>
                  <a:pt x="10759420" y="0"/>
                </a:lnTo>
                <a:lnTo>
                  <a:pt x="10759420" y="10719072"/>
                </a:lnTo>
                <a:lnTo>
                  <a:pt x="0" y="107190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922740" y="1573166"/>
            <a:ext cx="5141162" cy="8713834"/>
          </a:xfrm>
          <a:custGeom>
            <a:avLst/>
            <a:gdLst/>
            <a:ahLst/>
            <a:cxnLst/>
            <a:rect l="l" t="t" r="r" b="b"/>
            <a:pathLst>
              <a:path w="5141162" h="8713834">
                <a:moveTo>
                  <a:pt x="0" y="0"/>
                </a:moveTo>
                <a:lnTo>
                  <a:pt x="5141162" y="0"/>
                </a:lnTo>
                <a:lnTo>
                  <a:pt x="5141162" y="8713834"/>
                </a:lnTo>
                <a:lnTo>
                  <a:pt x="0" y="87138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3509373" y="-7799401"/>
            <a:ext cx="9881405" cy="9844349"/>
          </a:xfrm>
          <a:custGeom>
            <a:avLst/>
            <a:gdLst/>
            <a:ahLst/>
            <a:cxnLst/>
            <a:rect l="l" t="t" r="r" b="b"/>
            <a:pathLst>
              <a:path w="9881405" h="9844349">
                <a:moveTo>
                  <a:pt x="0" y="0"/>
                </a:moveTo>
                <a:lnTo>
                  <a:pt x="9881405" y="0"/>
                </a:lnTo>
                <a:lnTo>
                  <a:pt x="9881405" y="9844350"/>
                </a:lnTo>
                <a:lnTo>
                  <a:pt x="0" y="98443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0" y="0"/>
            <a:ext cx="12922740" cy="10354345"/>
          </a:xfrm>
          <a:custGeom>
            <a:avLst/>
            <a:gdLst/>
            <a:ahLst/>
            <a:cxnLst/>
            <a:rect l="l" t="t" r="r" b="b"/>
            <a:pathLst>
              <a:path w="12922740" h="10354345">
                <a:moveTo>
                  <a:pt x="0" y="0"/>
                </a:moveTo>
                <a:lnTo>
                  <a:pt x="12922740" y="0"/>
                </a:lnTo>
                <a:lnTo>
                  <a:pt x="12922740" y="10354345"/>
                </a:lnTo>
                <a:lnTo>
                  <a:pt x="0" y="10354345"/>
                </a:lnTo>
                <a:lnTo>
                  <a:pt x="0" y="0"/>
                </a:lnTo>
                <a:close/>
              </a:path>
            </a:pathLst>
          </a:custGeom>
          <a:blipFill>
            <a:blip r:embed="rId8"/>
            <a:stretch>
              <a:fillRect/>
            </a:stretch>
          </a:blipFill>
        </p:spPr>
      </p:sp>
    </p:spTree>
    <p:extLst>
      <p:ext uri="{BB962C8B-B14F-4D97-AF65-F5344CB8AC3E}">
        <p14:creationId xmlns:p14="http://schemas.microsoft.com/office/powerpoint/2010/main" val="871488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4804682" y="3361342"/>
            <a:ext cx="8492945" cy="8461096"/>
          </a:xfrm>
          <a:custGeom>
            <a:avLst/>
            <a:gdLst/>
            <a:ahLst/>
            <a:cxnLst/>
            <a:rect l="l" t="t" r="r" b="b"/>
            <a:pathLst>
              <a:path w="8492945" h="8461096">
                <a:moveTo>
                  <a:pt x="0" y="0"/>
                </a:moveTo>
                <a:lnTo>
                  <a:pt x="8492944" y="0"/>
                </a:lnTo>
                <a:lnTo>
                  <a:pt x="8492944" y="8461096"/>
                </a:lnTo>
                <a:lnTo>
                  <a:pt x="0" y="84610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09373"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333891"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59391" y="600287"/>
            <a:ext cx="5061308" cy="9686713"/>
          </a:xfrm>
          <a:custGeom>
            <a:avLst/>
            <a:gdLst/>
            <a:ahLst/>
            <a:cxnLst/>
            <a:rect l="l" t="t" r="r" b="b"/>
            <a:pathLst>
              <a:path w="5061308" h="9686713">
                <a:moveTo>
                  <a:pt x="0" y="0"/>
                </a:moveTo>
                <a:lnTo>
                  <a:pt x="5061308" y="0"/>
                </a:lnTo>
                <a:lnTo>
                  <a:pt x="5061308" y="9686713"/>
                </a:lnTo>
                <a:lnTo>
                  <a:pt x="0" y="968671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341736" y="3933309"/>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484643" y="317496"/>
            <a:ext cx="12374749" cy="10162762"/>
          </a:xfrm>
          <a:custGeom>
            <a:avLst/>
            <a:gdLst/>
            <a:ahLst/>
            <a:cxnLst/>
            <a:rect l="l" t="t" r="r" b="b"/>
            <a:pathLst>
              <a:path w="12374749" h="10162762">
                <a:moveTo>
                  <a:pt x="0" y="0"/>
                </a:moveTo>
                <a:lnTo>
                  <a:pt x="12374748" y="0"/>
                </a:lnTo>
                <a:lnTo>
                  <a:pt x="12374748" y="10162762"/>
                </a:lnTo>
                <a:lnTo>
                  <a:pt x="0" y="10162762"/>
                </a:lnTo>
                <a:lnTo>
                  <a:pt x="0" y="0"/>
                </a:lnTo>
                <a:close/>
              </a:path>
            </a:pathLst>
          </a:custGeom>
          <a:blipFill>
            <a:blip r:embed="rId8"/>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2734023" y="231730"/>
            <a:ext cx="14525277" cy="9823539"/>
          </a:xfrm>
          <a:custGeom>
            <a:avLst/>
            <a:gdLst/>
            <a:ahLst/>
            <a:cxnLst/>
            <a:rect l="l" t="t" r="r" b="b"/>
            <a:pathLst>
              <a:path w="14525277" h="9823539">
                <a:moveTo>
                  <a:pt x="0" y="0"/>
                </a:moveTo>
                <a:lnTo>
                  <a:pt x="14525277" y="0"/>
                </a:lnTo>
                <a:lnTo>
                  <a:pt x="14525277" y="9823540"/>
                </a:lnTo>
                <a:lnTo>
                  <a:pt x="0" y="9823540"/>
                </a:lnTo>
                <a:lnTo>
                  <a:pt x="0" y="0"/>
                </a:lnTo>
                <a:close/>
              </a:path>
            </a:pathLst>
          </a:custGeom>
          <a:blipFill>
            <a:blip r:embed="rId2"/>
            <a:stretch>
              <a:fillRect t="-2768" b="-2768"/>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04682" y="3361342"/>
            <a:ext cx="8492945" cy="8461096"/>
          </a:xfrm>
          <a:custGeom>
            <a:avLst/>
            <a:gdLst/>
            <a:ahLst/>
            <a:cxnLst/>
            <a:rect l="l" t="t" r="r" b="b"/>
            <a:pathLst>
              <a:path w="8492945" h="8461096">
                <a:moveTo>
                  <a:pt x="0" y="0"/>
                </a:moveTo>
                <a:lnTo>
                  <a:pt x="8492944" y="0"/>
                </a:lnTo>
                <a:lnTo>
                  <a:pt x="8492944" y="8461096"/>
                </a:lnTo>
                <a:lnTo>
                  <a:pt x="0" y="84610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09373"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333891"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59391" y="600287"/>
            <a:ext cx="5061308" cy="9686713"/>
          </a:xfrm>
          <a:custGeom>
            <a:avLst/>
            <a:gdLst/>
            <a:ahLst/>
            <a:cxnLst/>
            <a:rect l="l" t="t" r="r" b="b"/>
            <a:pathLst>
              <a:path w="5061308" h="9686713">
                <a:moveTo>
                  <a:pt x="0" y="0"/>
                </a:moveTo>
                <a:lnTo>
                  <a:pt x="5061308" y="0"/>
                </a:lnTo>
                <a:lnTo>
                  <a:pt x="5061308" y="9686713"/>
                </a:lnTo>
                <a:lnTo>
                  <a:pt x="0" y="968671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341736" y="3933309"/>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Rectangle 8">
            <a:extLst>
              <a:ext uri="{FF2B5EF4-FFF2-40B4-BE49-F238E27FC236}">
                <a16:creationId xmlns:a16="http://schemas.microsoft.com/office/drawing/2014/main" id="{7C4DDE48-B64D-4A27-9288-B0265107E271}"/>
              </a:ext>
            </a:extLst>
          </p:cNvPr>
          <p:cNvSpPr/>
          <p:nvPr/>
        </p:nvSpPr>
        <p:spPr>
          <a:xfrm>
            <a:off x="533400" y="952500"/>
            <a:ext cx="13182600" cy="6001643"/>
          </a:xfrm>
          <a:prstGeom prst="rect">
            <a:avLst/>
          </a:prstGeom>
        </p:spPr>
        <p:txBody>
          <a:bodyPr wrap="square">
            <a:spAutoFit/>
          </a:bodyPr>
          <a:lstStyle/>
          <a:p>
            <a:r>
              <a:rPr lang="id-ID" sz="4800" b="1" dirty="0"/>
              <a:t>Mengapa Mengelola Emosi Penting?</a:t>
            </a:r>
          </a:p>
          <a:p>
            <a:pPr>
              <a:buFont typeface="Arial" panose="020B0604020202020204" pitchFamily="34" charset="0"/>
              <a:buChar char="•"/>
            </a:pPr>
            <a:r>
              <a:rPr lang="id-ID" sz="4800" dirty="0"/>
              <a:t>Membantu kita membuat keputusan yang lebih baik.</a:t>
            </a:r>
          </a:p>
          <a:p>
            <a:pPr>
              <a:buFont typeface="Arial" panose="020B0604020202020204" pitchFamily="34" charset="0"/>
              <a:buChar char="•"/>
            </a:pPr>
            <a:r>
              <a:rPr lang="id-ID" sz="4800" dirty="0"/>
              <a:t>Mencegah konflik dengan teman atau keluarga.</a:t>
            </a:r>
          </a:p>
          <a:p>
            <a:pPr>
              <a:buFont typeface="Arial" panose="020B0604020202020204" pitchFamily="34" charset="0"/>
              <a:buChar char="•"/>
            </a:pPr>
            <a:r>
              <a:rPr lang="id-ID" sz="4800" dirty="0"/>
              <a:t>Membuat kita lebih tenang dan bahagia.</a:t>
            </a:r>
          </a:p>
          <a:p>
            <a:pPr>
              <a:buFont typeface="Arial" panose="020B0604020202020204" pitchFamily="34" charset="0"/>
              <a:buChar char="•"/>
            </a:pPr>
            <a:r>
              <a:rPr lang="id-ID" sz="4800" dirty="0"/>
              <a:t>Menjaga hubungan baik dengan orang lain.</a:t>
            </a:r>
          </a:p>
          <a:p>
            <a:pPr>
              <a:buFont typeface="Arial" panose="020B0604020202020204" pitchFamily="34" charset="0"/>
              <a:buChar char="•"/>
            </a:pPr>
            <a:r>
              <a:rPr lang="id-ID" sz="4800" b="1" dirty="0"/>
              <a:t>Fakta</a:t>
            </a:r>
            <a:r>
              <a:rPr lang="id-ID" sz="4800" dirty="0"/>
              <a:t>: Emosi yang tidak terkendali bisa menyebabkan stres atau masalah kesehatan mental.</a:t>
            </a:r>
          </a:p>
        </p:txBody>
      </p:sp>
    </p:spTree>
    <p:extLst>
      <p:ext uri="{BB962C8B-B14F-4D97-AF65-F5344CB8AC3E}">
        <p14:creationId xmlns:p14="http://schemas.microsoft.com/office/powerpoint/2010/main" val="44895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98974" y="3619500"/>
            <a:ext cx="7234917" cy="8461096"/>
          </a:xfrm>
          <a:custGeom>
            <a:avLst/>
            <a:gdLst/>
            <a:ahLst/>
            <a:cxnLst/>
            <a:rect l="l" t="t" r="r" b="b"/>
            <a:pathLst>
              <a:path w="8492945" h="8461096">
                <a:moveTo>
                  <a:pt x="0" y="0"/>
                </a:moveTo>
                <a:lnTo>
                  <a:pt x="8492944" y="0"/>
                </a:lnTo>
                <a:lnTo>
                  <a:pt x="8492944" y="8461096"/>
                </a:lnTo>
                <a:lnTo>
                  <a:pt x="0" y="84610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09373"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333891"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59391" y="600287"/>
            <a:ext cx="5061308" cy="9686713"/>
          </a:xfrm>
          <a:custGeom>
            <a:avLst/>
            <a:gdLst/>
            <a:ahLst/>
            <a:cxnLst/>
            <a:rect l="l" t="t" r="r" b="b"/>
            <a:pathLst>
              <a:path w="5061308" h="9686713">
                <a:moveTo>
                  <a:pt x="0" y="0"/>
                </a:moveTo>
                <a:lnTo>
                  <a:pt x="5061308" y="0"/>
                </a:lnTo>
                <a:lnTo>
                  <a:pt x="5061308" y="9686713"/>
                </a:lnTo>
                <a:lnTo>
                  <a:pt x="0" y="968671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341736" y="3933309"/>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Rectangle 8">
            <a:extLst>
              <a:ext uri="{FF2B5EF4-FFF2-40B4-BE49-F238E27FC236}">
                <a16:creationId xmlns:a16="http://schemas.microsoft.com/office/drawing/2014/main" id="{7C4DDE48-B64D-4A27-9288-B0265107E271}"/>
              </a:ext>
            </a:extLst>
          </p:cNvPr>
          <p:cNvSpPr/>
          <p:nvPr/>
        </p:nvSpPr>
        <p:spPr>
          <a:xfrm>
            <a:off x="533400" y="952500"/>
            <a:ext cx="13182600" cy="830997"/>
          </a:xfrm>
          <a:prstGeom prst="rect">
            <a:avLst/>
          </a:prstGeom>
        </p:spPr>
        <p:txBody>
          <a:bodyPr wrap="square">
            <a:spAutoFit/>
          </a:bodyPr>
          <a:lstStyle/>
          <a:p>
            <a:r>
              <a:rPr lang="id-ID" sz="4800" dirty="0"/>
              <a:t>.</a:t>
            </a:r>
          </a:p>
        </p:txBody>
      </p:sp>
      <p:sp>
        <p:nvSpPr>
          <p:cNvPr id="8" name="Rectangle 7">
            <a:extLst>
              <a:ext uri="{FF2B5EF4-FFF2-40B4-BE49-F238E27FC236}">
                <a16:creationId xmlns:a16="http://schemas.microsoft.com/office/drawing/2014/main" id="{B1AD0BBA-A68A-475C-BC55-637AF2C2D62F}"/>
              </a:ext>
            </a:extLst>
          </p:cNvPr>
          <p:cNvSpPr/>
          <p:nvPr/>
        </p:nvSpPr>
        <p:spPr>
          <a:xfrm>
            <a:off x="1536071" y="1934012"/>
            <a:ext cx="11353800" cy="6186309"/>
          </a:xfrm>
          <a:prstGeom prst="rect">
            <a:avLst/>
          </a:prstGeom>
        </p:spPr>
        <p:txBody>
          <a:bodyPr wrap="square">
            <a:spAutoFit/>
          </a:bodyPr>
          <a:lstStyle/>
          <a:p>
            <a:r>
              <a:rPr lang="id-ID" sz="4400" b="1" dirty="0"/>
              <a:t>Jenis-Jenis Emosi</a:t>
            </a:r>
          </a:p>
          <a:p>
            <a:pPr>
              <a:buFont typeface="Arial" panose="020B0604020202020204" pitchFamily="34" charset="0"/>
              <a:buChar char="•"/>
            </a:pPr>
            <a:r>
              <a:rPr lang="id-ID" sz="4400" b="1" dirty="0"/>
              <a:t>Emosi Positif</a:t>
            </a:r>
            <a:r>
              <a:rPr lang="id-ID" sz="4400" dirty="0"/>
              <a:t>:</a:t>
            </a:r>
          </a:p>
          <a:p>
            <a:pPr marL="742950" lvl="1" indent="-285750">
              <a:buFont typeface="Arial" panose="020B0604020202020204" pitchFamily="34" charset="0"/>
              <a:buChar char="•"/>
            </a:pPr>
            <a:r>
              <a:rPr lang="id-ID" sz="4400" dirty="0"/>
              <a:t>Senang, bangga, antusias.</a:t>
            </a:r>
          </a:p>
          <a:p>
            <a:pPr marL="742950" lvl="1" indent="-285750">
              <a:buFont typeface="Arial" panose="020B0604020202020204" pitchFamily="34" charset="0"/>
              <a:buChar char="•"/>
            </a:pPr>
            <a:r>
              <a:rPr lang="id-ID" sz="4400" dirty="0"/>
              <a:t>Membantu kita merasa termotivasi dan energik.</a:t>
            </a:r>
          </a:p>
          <a:p>
            <a:pPr>
              <a:buFont typeface="Arial" panose="020B0604020202020204" pitchFamily="34" charset="0"/>
              <a:buChar char="•"/>
            </a:pPr>
            <a:r>
              <a:rPr lang="id-ID" sz="4400" b="1" dirty="0"/>
              <a:t>Emosi Negatif</a:t>
            </a:r>
            <a:r>
              <a:rPr lang="id-ID" sz="4400" dirty="0"/>
              <a:t>:</a:t>
            </a:r>
          </a:p>
          <a:p>
            <a:pPr marL="742950" lvl="1" indent="-285750">
              <a:buFont typeface="Arial" panose="020B0604020202020204" pitchFamily="34" charset="0"/>
              <a:buChar char="•"/>
            </a:pPr>
            <a:r>
              <a:rPr lang="id-ID" sz="4400" dirty="0"/>
              <a:t>Marah, sedih, cemas, takut.</a:t>
            </a:r>
          </a:p>
          <a:p>
            <a:pPr marL="742950" lvl="1" indent="-285750">
              <a:buFont typeface="Arial" panose="020B0604020202020204" pitchFamily="34" charset="0"/>
              <a:buChar char="•"/>
            </a:pPr>
            <a:r>
              <a:rPr lang="id-ID" sz="4400" dirty="0"/>
              <a:t>Wajar dirasakan, tapi perlu dikendalikan agar tidak merusak.</a:t>
            </a:r>
          </a:p>
        </p:txBody>
      </p:sp>
    </p:spTree>
    <p:extLst>
      <p:ext uri="{BB962C8B-B14F-4D97-AF65-F5344CB8AC3E}">
        <p14:creationId xmlns:p14="http://schemas.microsoft.com/office/powerpoint/2010/main" val="22907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72400" y="2564797"/>
            <a:ext cx="6525793" cy="8461096"/>
          </a:xfrm>
          <a:custGeom>
            <a:avLst/>
            <a:gdLst/>
            <a:ahLst/>
            <a:cxnLst/>
            <a:rect l="l" t="t" r="r" b="b"/>
            <a:pathLst>
              <a:path w="8492945" h="8461096">
                <a:moveTo>
                  <a:pt x="0" y="0"/>
                </a:moveTo>
                <a:lnTo>
                  <a:pt x="8492944" y="0"/>
                </a:lnTo>
                <a:lnTo>
                  <a:pt x="8492944" y="8461096"/>
                </a:lnTo>
                <a:lnTo>
                  <a:pt x="0" y="84610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id-ID" dirty="0"/>
          </a:p>
        </p:txBody>
      </p:sp>
      <p:sp>
        <p:nvSpPr>
          <p:cNvPr id="4" name="Freeform 4"/>
          <p:cNvSpPr/>
          <p:nvPr/>
        </p:nvSpPr>
        <p:spPr>
          <a:xfrm>
            <a:off x="12333891"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59391" y="600287"/>
            <a:ext cx="5061308" cy="9686713"/>
          </a:xfrm>
          <a:custGeom>
            <a:avLst/>
            <a:gdLst/>
            <a:ahLst/>
            <a:cxnLst/>
            <a:rect l="l" t="t" r="r" b="b"/>
            <a:pathLst>
              <a:path w="5061308" h="9686713">
                <a:moveTo>
                  <a:pt x="0" y="0"/>
                </a:moveTo>
                <a:lnTo>
                  <a:pt x="5061308" y="0"/>
                </a:lnTo>
                <a:lnTo>
                  <a:pt x="5061308" y="9686713"/>
                </a:lnTo>
                <a:lnTo>
                  <a:pt x="0" y="968671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341736" y="3933309"/>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Rectangle 8">
            <a:extLst>
              <a:ext uri="{FF2B5EF4-FFF2-40B4-BE49-F238E27FC236}">
                <a16:creationId xmlns:a16="http://schemas.microsoft.com/office/drawing/2014/main" id="{7C4DDE48-B64D-4A27-9288-B0265107E271}"/>
              </a:ext>
            </a:extLst>
          </p:cNvPr>
          <p:cNvSpPr/>
          <p:nvPr/>
        </p:nvSpPr>
        <p:spPr>
          <a:xfrm>
            <a:off x="300529" y="952499"/>
            <a:ext cx="13182600" cy="830997"/>
          </a:xfrm>
          <a:prstGeom prst="rect">
            <a:avLst/>
          </a:prstGeom>
        </p:spPr>
        <p:txBody>
          <a:bodyPr wrap="square">
            <a:spAutoFit/>
          </a:bodyPr>
          <a:lstStyle/>
          <a:p>
            <a:r>
              <a:rPr lang="id-ID" sz="4800" dirty="0"/>
              <a:t>.</a:t>
            </a:r>
          </a:p>
        </p:txBody>
      </p:sp>
      <p:sp>
        <p:nvSpPr>
          <p:cNvPr id="10" name="Rectangle 9">
            <a:extLst>
              <a:ext uri="{FF2B5EF4-FFF2-40B4-BE49-F238E27FC236}">
                <a16:creationId xmlns:a16="http://schemas.microsoft.com/office/drawing/2014/main" id="{C9621A50-B440-4931-80FC-DC2E0E99D37C}"/>
              </a:ext>
            </a:extLst>
          </p:cNvPr>
          <p:cNvSpPr/>
          <p:nvPr/>
        </p:nvSpPr>
        <p:spPr>
          <a:xfrm>
            <a:off x="3244545" y="441139"/>
            <a:ext cx="8968623" cy="2123658"/>
          </a:xfrm>
          <a:prstGeom prst="rect">
            <a:avLst/>
          </a:prstGeom>
        </p:spPr>
        <p:txBody>
          <a:bodyPr wrap="square">
            <a:spAutoFit/>
          </a:bodyPr>
          <a:lstStyle/>
          <a:p>
            <a:r>
              <a:rPr lang="id-ID" sz="4400" b="1" i="1" dirty="0"/>
              <a:t>emosi dapat dikategorikan berdasarkan sifatnya, termasuk sebagai termometer dan stabilisator.</a:t>
            </a:r>
            <a:endParaRPr lang="id-ID" sz="4400" b="1" i="1" dirty="0">
              <a:effectLst/>
            </a:endParaRPr>
          </a:p>
        </p:txBody>
      </p:sp>
      <p:sp>
        <p:nvSpPr>
          <p:cNvPr id="11" name="Rectangle 10">
            <a:extLst>
              <a:ext uri="{FF2B5EF4-FFF2-40B4-BE49-F238E27FC236}">
                <a16:creationId xmlns:a16="http://schemas.microsoft.com/office/drawing/2014/main" id="{FED96D03-1D08-4D8A-B6E2-E646BE751731}"/>
              </a:ext>
            </a:extLst>
          </p:cNvPr>
          <p:cNvSpPr/>
          <p:nvPr/>
        </p:nvSpPr>
        <p:spPr>
          <a:xfrm>
            <a:off x="603965" y="2714081"/>
            <a:ext cx="9144000" cy="2554545"/>
          </a:xfrm>
          <a:prstGeom prst="rect">
            <a:avLst/>
          </a:prstGeom>
        </p:spPr>
        <p:txBody>
          <a:bodyPr>
            <a:spAutoFit/>
          </a:bodyPr>
          <a:lstStyle/>
          <a:p>
            <a:pPr>
              <a:buFont typeface="Arial" panose="020B0604020202020204" pitchFamily="34" charset="0"/>
              <a:buChar char="•"/>
            </a:pPr>
            <a:r>
              <a:rPr lang="id-ID" sz="3200" b="1" dirty="0"/>
              <a:t>Emosi Bersifat Termometer</a:t>
            </a:r>
            <a:r>
              <a:rPr lang="id-ID" sz="3200" dirty="0"/>
              <a:t>: Emosi ini berfungsi seperti termometer, yaitu </a:t>
            </a:r>
            <a:r>
              <a:rPr lang="id-ID" sz="3200" b="1" dirty="0"/>
              <a:t>mencerminkan atau menunjukkan kondisi tertentu</a:t>
            </a:r>
            <a:r>
              <a:rPr lang="id-ID" sz="3200" dirty="0"/>
              <a:t> dalam diri kita atau lingkungan.</a:t>
            </a:r>
            <a:endParaRPr lang="en-US" sz="3200" dirty="0"/>
          </a:p>
          <a:p>
            <a:pPr>
              <a:buFont typeface="Arial" panose="020B0604020202020204" pitchFamily="34" charset="0"/>
              <a:buChar char="•"/>
            </a:pPr>
            <a:r>
              <a:rPr lang="en-US" sz="3200" dirty="0" err="1"/>
              <a:t>Contoh</a:t>
            </a:r>
            <a:r>
              <a:rPr lang="en-US" sz="3200" dirty="0"/>
              <a:t> : </a:t>
            </a:r>
            <a:r>
              <a:rPr lang="en-US" sz="3200" dirty="0" err="1"/>
              <a:t>Marah,senang,takut</a:t>
            </a:r>
            <a:r>
              <a:rPr lang="en-US" sz="3200" dirty="0"/>
              <a:t> yang tidak </a:t>
            </a:r>
            <a:r>
              <a:rPr lang="en-US" sz="3200" dirty="0" err="1"/>
              <a:t>terkontrol</a:t>
            </a:r>
            <a:r>
              <a:rPr lang="en-US" sz="3200" dirty="0"/>
              <a:t>.</a:t>
            </a:r>
            <a:endParaRPr lang="id-ID" sz="3200" dirty="0"/>
          </a:p>
        </p:txBody>
      </p:sp>
      <p:sp>
        <p:nvSpPr>
          <p:cNvPr id="12" name="Rectangle 11">
            <a:extLst>
              <a:ext uri="{FF2B5EF4-FFF2-40B4-BE49-F238E27FC236}">
                <a16:creationId xmlns:a16="http://schemas.microsoft.com/office/drawing/2014/main" id="{1B2A5242-AD76-4BCE-87F5-7F4B2F5B910D}"/>
              </a:ext>
            </a:extLst>
          </p:cNvPr>
          <p:cNvSpPr/>
          <p:nvPr/>
        </p:nvSpPr>
        <p:spPr>
          <a:xfrm>
            <a:off x="457200" y="6206270"/>
            <a:ext cx="9144000" cy="2062103"/>
          </a:xfrm>
          <a:prstGeom prst="rect">
            <a:avLst/>
          </a:prstGeom>
        </p:spPr>
        <p:txBody>
          <a:bodyPr>
            <a:spAutoFit/>
          </a:bodyPr>
          <a:lstStyle/>
          <a:p>
            <a:pPr>
              <a:buFont typeface="Arial" panose="020B0604020202020204" pitchFamily="34" charset="0"/>
              <a:buChar char="•"/>
            </a:pPr>
            <a:r>
              <a:rPr lang="id-ID" sz="3200" b="1" dirty="0"/>
              <a:t>Emosi Bersifat Stabilisator</a:t>
            </a:r>
            <a:r>
              <a:rPr lang="id-ID" sz="3200" dirty="0"/>
              <a:t>: Emosi ini berfungsi untuk </a:t>
            </a:r>
            <a:r>
              <a:rPr lang="id-ID" sz="3200" b="1" dirty="0"/>
              <a:t>menjaga keseimbangan atau stabilitas</a:t>
            </a:r>
            <a:r>
              <a:rPr lang="id-ID" sz="3200" dirty="0"/>
              <a:t> emosional agar kita tetap tenang dan terkontrol.</a:t>
            </a:r>
            <a:endParaRPr lang="en-US" sz="3200" dirty="0"/>
          </a:p>
          <a:p>
            <a:pPr>
              <a:buFont typeface="Arial" panose="020B0604020202020204" pitchFamily="34" charset="0"/>
              <a:buChar char="•"/>
            </a:pPr>
            <a:r>
              <a:rPr lang="en-US" sz="3200" dirty="0" err="1"/>
              <a:t>Contoh</a:t>
            </a:r>
            <a:r>
              <a:rPr lang="en-US" sz="3200" dirty="0"/>
              <a:t> : </a:t>
            </a:r>
            <a:r>
              <a:rPr lang="en-US" sz="3200" dirty="0" err="1"/>
              <a:t>damai</a:t>
            </a:r>
            <a:r>
              <a:rPr lang="en-US" sz="3200" dirty="0"/>
              <a:t>, </a:t>
            </a:r>
            <a:r>
              <a:rPr lang="en-US" sz="3200" dirty="0" err="1"/>
              <a:t>kelegaan</a:t>
            </a:r>
            <a:r>
              <a:rPr lang="en-US" sz="3200" dirty="0"/>
              <a:t>, </a:t>
            </a:r>
            <a:r>
              <a:rPr lang="en-US" sz="3200" dirty="0" err="1"/>
              <a:t>cinta</a:t>
            </a:r>
            <a:r>
              <a:rPr lang="en-US" sz="3200" dirty="0"/>
              <a:t> dan </a:t>
            </a:r>
            <a:r>
              <a:rPr lang="en-US" sz="3200" dirty="0" err="1"/>
              <a:t>sayang</a:t>
            </a:r>
            <a:endParaRPr lang="id-ID" sz="3200" dirty="0"/>
          </a:p>
        </p:txBody>
      </p:sp>
      <p:sp>
        <p:nvSpPr>
          <p:cNvPr id="13" name="Rectangle 12">
            <a:extLst>
              <a:ext uri="{FF2B5EF4-FFF2-40B4-BE49-F238E27FC236}">
                <a16:creationId xmlns:a16="http://schemas.microsoft.com/office/drawing/2014/main" id="{3D133AB5-1EEA-4F96-8420-B8578595C595}"/>
              </a:ext>
            </a:extLst>
          </p:cNvPr>
          <p:cNvSpPr/>
          <p:nvPr/>
        </p:nvSpPr>
        <p:spPr>
          <a:xfrm>
            <a:off x="669000" y="5143688"/>
            <a:ext cx="12121448" cy="954107"/>
          </a:xfrm>
          <a:prstGeom prst="rect">
            <a:avLst/>
          </a:prstGeom>
        </p:spPr>
        <p:txBody>
          <a:bodyPr wrap="square">
            <a:spAutoFit/>
          </a:bodyPr>
          <a:lstStyle/>
          <a:p>
            <a:r>
              <a:rPr lang="id-ID" sz="2800" dirty="0"/>
              <a:t>Fungsinya: Membantu kita menyadari situasi di sekitar dan mempersiapkan respons.</a:t>
            </a:r>
            <a:endParaRPr lang="id-ID" sz="2800" dirty="0">
              <a:effectLst/>
            </a:endParaRPr>
          </a:p>
        </p:txBody>
      </p:sp>
      <p:sp>
        <p:nvSpPr>
          <p:cNvPr id="14" name="Rectangle 13">
            <a:extLst>
              <a:ext uri="{FF2B5EF4-FFF2-40B4-BE49-F238E27FC236}">
                <a16:creationId xmlns:a16="http://schemas.microsoft.com/office/drawing/2014/main" id="{6EA294D1-5D9A-49E3-A101-DD903B9D15A5}"/>
              </a:ext>
            </a:extLst>
          </p:cNvPr>
          <p:cNvSpPr/>
          <p:nvPr/>
        </p:nvSpPr>
        <p:spPr>
          <a:xfrm>
            <a:off x="427719" y="8545374"/>
            <a:ext cx="12928219" cy="523220"/>
          </a:xfrm>
          <a:prstGeom prst="rect">
            <a:avLst/>
          </a:prstGeom>
        </p:spPr>
        <p:txBody>
          <a:bodyPr wrap="none">
            <a:spAutoFit/>
          </a:bodyPr>
          <a:lstStyle/>
          <a:p>
            <a:r>
              <a:rPr lang="id-ID" sz="2800" dirty="0"/>
              <a:t>Fungsinya: Menjaga kesehatan mental dan membantu kita pulih dari emosi yang intens.</a:t>
            </a:r>
            <a:endParaRPr lang="id-ID" sz="2800" dirty="0">
              <a:effectLst/>
            </a:endParaRPr>
          </a:p>
        </p:txBody>
      </p:sp>
    </p:spTree>
    <p:extLst>
      <p:ext uri="{BB962C8B-B14F-4D97-AF65-F5344CB8AC3E}">
        <p14:creationId xmlns:p14="http://schemas.microsoft.com/office/powerpoint/2010/main" val="3430823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72400" y="2564797"/>
            <a:ext cx="6525793" cy="8461096"/>
          </a:xfrm>
          <a:custGeom>
            <a:avLst/>
            <a:gdLst/>
            <a:ahLst/>
            <a:cxnLst/>
            <a:rect l="l" t="t" r="r" b="b"/>
            <a:pathLst>
              <a:path w="8492945" h="8461096">
                <a:moveTo>
                  <a:pt x="0" y="0"/>
                </a:moveTo>
                <a:lnTo>
                  <a:pt x="8492944" y="0"/>
                </a:lnTo>
                <a:lnTo>
                  <a:pt x="8492944" y="8461096"/>
                </a:lnTo>
                <a:lnTo>
                  <a:pt x="0" y="84610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id-ID" dirty="0"/>
          </a:p>
        </p:txBody>
      </p:sp>
      <p:sp>
        <p:nvSpPr>
          <p:cNvPr id="4" name="Freeform 4"/>
          <p:cNvSpPr/>
          <p:nvPr/>
        </p:nvSpPr>
        <p:spPr>
          <a:xfrm>
            <a:off x="12333891" y="-7799401"/>
            <a:ext cx="10162464" cy="10124355"/>
          </a:xfrm>
          <a:custGeom>
            <a:avLst/>
            <a:gdLst/>
            <a:ahLst/>
            <a:cxnLst/>
            <a:rect l="l" t="t" r="r" b="b"/>
            <a:pathLst>
              <a:path w="10162464" h="10124355">
                <a:moveTo>
                  <a:pt x="0" y="0"/>
                </a:moveTo>
                <a:lnTo>
                  <a:pt x="10162464" y="0"/>
                </a:lnTo>
                <a:lnTo>
                  <a:pt x="10162464" y="10124355"/>
                </a:lnTo>
                <a:lnTo>
                  <a:pt x="0" y="101243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59391" y="600287"/>
            <a:ext cx="5061308" cy="9686713"/>
          </a:xfrm>
          <a:custGeom>
            <a:avLst/>
            <a:gdLst/>
            <a:ahLst/>
            <a:cxnLst/>
            <a:rect l="l" t="t" r="r" b="b"/>
            <a:pathLst>
              <a:path w="5061308" h="9686713">
                <a:moveTo>
                  <a:pt x="0" y="0"/>
                </a:moveTo>
                <a:lnTo>
                  <a:pt x="5061308" y="0"/>
                </a:lnTo>
                <a:lnTo>
                  <a:pt x="5061308" y="9686713"/>
                </a:lnTo>
                <a:lnTo>
                  <a:pt x="0" y="968671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879028" y="8268373"/>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4341736" y="3933309"/>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Rectangle 8">
            <a:extLst>
              <a:ext uri="{FF2B5EF4-FFF2-40B4-BE49-F238E27FC236}">
                <a16:creationId xmlns:a16="http://schemas.microsoft.com/office/drawing/2014/main" id="{7C4DDE48-B64D-4A27-9288-B0265107E271}"/>
              </a:ext>
            </a:extLst>
          </p:cNvPr>
          <p:cNvSpPr/>
          <p:nvPr/>
        </p:nvSpPr>
        <p:spPr>
          <a:xfrm>
            <a:off x="300529" y="952499"/>
            <a:ext cx="13182600" cy="830997"/>
          </a:xfrm>
          <a:prstGeom prst="rect">
            <a:avLst/>
          </a:prstGeom>
        </p:spPr>
        <p:txBody>
          <a:bodyPr wrap="square">
            <a:spAutoFit/>
          </a:bodyPr>
          <a:lstStyle/>
          <a:p>
            <a:r>
              <a:rPr lang="id-ID" sz="4800" dirty="0"/>
              <a:t>.</a:t>
            </a:r>
          </a:p>
        </p:txBody>
      </p:sp>
      <p:sp>
        <p:nvSpPr>
          <p:cNvPr id="8" name="Rectangle 7">
            <a:extLst>
              <a:ext uri="{FF2B5EF4-FFF2-40B4-BE49-F238E27FC236}">
                <a16:creationId xmlns:a16="http://schemas.microsoft.com/office/drawing/2014/main" id="{0C29DA5F-EF85-454B-B70C-A588729145F9}"/>
              </a:ext>
            </a:extLst>
          </p:cNvPr>
          <p:cNvSpPr/>
          <p:nvPr/>
        </p:nvSpPr>
        <p:spPr>
          <a:xfrm>
            <a:off x="1578381" y="1404956"/>
            <a:ext cx="9144001" cy="6863417"/>
          </a:xfrm>
          <a:prstGeom prst="rect">
            <a:avLst/>
          </a:prstGeom>
        </p:spPr>
        <p:txBody>
          <a:bodyPr>
            <a:spAutoFit/>
          </a:bodyPr>
          <a:lstStyle/>
          <a:p>
            <a:r>
              <a:rPr lang="id-ID" sz="4400" b="1" dirty="0"/>
              <a:t>Kesimpulan</a:t>
            </a:r>
            <a:r>
              <a:rPr lang="id-ID" sz="4400" dirty="0"/>
              <a:t>:</a:t>
            </a:r>
          </a:p>
          <a:p>
            <a:pPr>
              <a:buFont typeface="Arial" panose="020B0604020202020204" pitchFamily="34" charset="0"/>
              <a:buChar char="•"/>
            </a:pPr>
            <a:r>
              <a:rPr lang="id-ID" sz="4400" dirty="0"/>
              <a:t>Emosi termometer membantu kita “membaca” situasi, sedangkan emosi stabilisator membantu kita tetap seimbang dan tenang.</a:t>
            </a:r>
          </a:p>
          <a:p>
            <a:pPr>
              <a:buFont typeface="Arial" panose="020B0604020202020204" pitchFamily="34" charset="0"/>
              <a:buChar char="•"/>
            </a:pPr>
            <a:r>
              <a:rPr lang="id-ID" sz="4400" dirty="0"/>
              <a:t>Keduanya penting untuk menjalani kehidupan dengan bijak. Contoh, saat marah (termometer), kita bisa menenangkan diri dengan tarik napas dalam (stabilisator).</a:t>
            </a:r>
          </a:p>
        </p:txBody>
      </p:sp>
    </p:spTree>
    <p:extLst>
      <p:ext uri="{BB962C8B-B14F-4D97-AF65-F5344CB8AC3E}">
        <p14:creationId xmlns:p14="http://schemas.microsoft.com/office/powerpoint/2010/main" val="3372322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Freeform 2"/>
          <p:cNvSpPr/>
          <p:nvPr/>
        </p:nvSpPr>
        <p:spPr>
          <a:xfrm>
            <a:off x="9231752" y="4434792"/>
            <a:ext cx="10909784" cy="10868872"/>
          </a:xfrm>
          <a:custGeom>
            <a:avLst/>
            <a:gdLst/>
            <a:ahLst/>
            <a:cxnLst/>
            <a:rect l="l" t="t" r="r" b="b"/>
            <a:pathLst>
              <a:path w="10909784" h="10868872">
                <a:moveTo>
                  <a:pt x="0" y="0"/>
                </a:moveTo>
                <a:lnTo>
                  <a:pt x="10909784" y="0"/>
                </a:lnTo>
                <a:lnTo>
                  <a:pt x="10909784" y="10868872"/>
                </a:lnTo>
                <a:lnTo>
                  <a:pt x="0" y="1086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2231" y="-3162300"/>
            <a:ext cx="10909784" cy="10868872"/>
          </a:xfrm>
          <a:custGeom>
            <a:avLst/>
            <a:gdLst/>
            <a:ahLst/>
            <a:cxnLst/>
            <a:rect l="l" t="t" r="r" b="b"/>
            <a:pathLst>
              <a:path w="10909784" h="10868872">
                <a:moveTo>
                  <a:pt x="0" y="0"/>
                </a:moveTo>
                <a:lnTo>
                  <a:pt x="10909784" y="0"/>
                </a:lnTo>
                <a:lnTo>
                  <a:pt x="10909784" y="10868872"/>
                </a:lnTo>
                <a:lnTo>
                  <a:pt x="0" y="1086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96000" y="1250065"/>
            <a:ext cx="12599005" cy="7432759"/>
            <a:chOff x="-160878" y="-38100"/>
            <a:chExt cx="3240571" cy="1663306"/>
          </a:xfrm>
        </p:grpSpPr>
        <p:sp>
          <p:nvSpPr>
            <p:cNvPr id="5" name="Freeform 5"/>
            <p:cNvSpPr/>
            <p:nvPr/>
          </p:nvSpPr>
          <p:spPr>
            <a:xfrm>
              <a:off x="-160878" y="2116"/>
              <a:ext cx="3079693" cy="1623090"/>
            </a:xfrm>
            <a:custGeom>
              <a:avLst/>
              <a:gdLst/>
              <a:ahLst/>
              <a:cxnLst/>
              <a:rect l="l" t="t" r="r" b="b"/>
              <a:pathLst>
                <a:path w="3079693" h="1623090">
                  <a:moveTo>
                    <a:pt x="28470" y="0"/>
                  </a:moveTo>
                  <a:lnTo>
                    <a:pt x="3051223" y="0"/>
                  </a:lnTo>
                  <a:cubicBezTo>
                    <a:pt x="3066946" y="0"/>
                    <a:pt x="3079693" y="12746"/>
                    <a:pt x="3079693" y="28470"/>
                  </a:cubicBezTo>
                  <a:lnTo>
                    <a:pt x="3079693" y="1594620"/>
                  </a:lnTo>
                  <a:cubicBezTo>
                    <a:pt x="3079693" y="1610344"/>
                    <a:pt x="3066946" y="1623090"/>
                    <a:pt x="3051223" y="1623090"/>
                  </a:cubicBezTo>
                  <a:lnTo>
                    <a:pt x="28470" y="1623090"/>
                  </a:lnTo>
                  <a:cubicBezTo>
                    <a:pt x="12746" y="1623090"/>
                    <a:pt x="0" y="1610344"/>
                    <a:pt x="0" y="1594620"/>
                  </a:cubicBezTo>
                  <a:lnTo>
                    <a:pt x="0" y="28470"/>
                  </a:lnTo>
                  <a:cubicBezTo>
                    <a:pt x="0" y="12746"/>
                    <a:pt x="12746" y="0"/>
                    <a:pt x="28470" y="0"/>
                  </a:cubicBezTo>
                  <a:close/>
                </a:path>
              </a:pathLst>
            </a:custGeom>
            <a:solidFill>
              <a:srgbClr val="FFF4EA"/>
            </a:solidFill>
            <a:ln w="19050" cap="rnd">
              <a:solidFill>
                <a:srgbClr val="372A28"/>
              </a:solidFill>
              <a:prstDash val="solid"/>
              <a:round/>
            </a:ln>
          </p:spPr>
        </p:sp>
        <p:sp>
          <p:nvSpPr>
            <p:cNvPr id="6" name="TextBox 6"/>
            <p:cNvSpPr txBox="1"/>
            <p:nvPr/>
          </p:nvSpPr>
          <p:spPr>
            <a:xfrm>
              <a:off x="0" y="-38100"/>
              <a:ext cx="3079693" cy="166119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755496" y="38100"/>
            <a:ext cx="4805411" cy="10390079"/>
          </a:xfrm>
          <a:custGeom>
            <a:avLst/>
            <a:gdLst/>
            <a:ahLst/>
            <a:cxnLst/>
            <a:rect l="l" t="t" r="r" b="b"/>
            <a:pathLst>
              <a:path w="4805411" h="10390079">
                <a:moveTo>
                  <a:pt x="0" y="0"/>
                </a:moveTo>
                <a:lnTo>
                  <a:pt x="4805411" y="0"/>
                </a:lnTo>
                <a:lnTo>
                  <a:pt x="4805411" y="10390079"/>
                </a:lnTo>
                <a:lnTo>
                  <a:pt x="0" y="1039007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1" name="Freeform 11"/>
          <p:cNvSpPr/>
          <p:nvPr/>
        </p:nvSpPr>
        <p:spPr>
          <a:xfrm>
            <a:off x="14110817" y="1539916"/>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Rectangle 11">
            <a:extLst>
              <a:ext uri="{FF2B5EF4-FFF2-40B4-BE49-F238E27FC236}">
                <a16:creationId xmlns:a16="http://schemas.microsoft.com/office/drawing/2014/main" id="{6B53418A-08EC-4034-8D72-237E0DFBE7D6}"/>
              </a:ext>
            </a:extLst>
          </p:cNvPr>
          <p:cNvSpPr/>
          <p:nvPr/>
        </p:nvSpPr>
        <p:spPr>
          <a:xfrm>
            <a:off x="7510764" y="1613632"/>
            <a:ext cx="9144000" cy="6494085"/>
          </a:xfrm>
          <a:prstGeom prst="rect">
            <a:avLst/>
          </a:prstGeom>
        </p:spPr>
        <p:txBody>
          <a:bodyPr>
            <a:spAutoFit/>
          </a:bodyPr>
          <a:lstStyle/>
          <a:p>
            <a:r>
              <a:rPr lang="id-ID" sz="3200" b="1" dirty="0"/>
              <a:t>Langkah-Langkah Mengelola Emosi</a:t>
            </a:r>
          </a:p>
          <a:p>
            <a:pPr>
              <a:buFont typeface="+mj-lt"/>
              <a:buAutoNum type="arabicPeriod"/>
            </a:pPr>
            <a:r>
              <a:rPr lang="id-ID" sz="3200" b="1" dirty="0"/>
              <a:t>Tarik Napas Dalam</a:t>
            </a:r>
            <a:r>
              <a:rPr lang="id-ID" sz="3200" dirty="0"/>
              <a:t>:</a:t>
            </a:r>
          </a:p>
          <a:p>
            <a:pPr marL="742950" lvl="1" indent="-285750">
              <a:buFont typeface="+mj-lt"/>
              <a:buAutoNum type="arabicPeriod"/>
            </a:pPr>
            <a:r>
              <a:rPr lang="id-ID" sz="3200" dirty="0"/>
              <a:t>Tarik napas perlahan, tahan, lalu hembuskan. Ulangi 3-5 kali.</a:t>
            </a:r>
          </a:p>
          <a:p>
            <a:pPr>
              <a:buFont typeface="+mj-lt"/>
              <a:buAutoNum type="arabicPeriod"/>
            </a:pPr>
            <a:r>
              <a:rPr lang="id-ID" sz="3200" b="1" dirty="0"/>
              <a:t>Berpikir Sebelum Bertindak</a:t>
            </a:r>
            <a:r>
              <a:rPr lang="id-ID" sz="3200" dirty="0"/>
              <a:t>:</a:t>
            </a:r>
          </a:p>
          <a:p>
            <a:pPr marL="742950" lvl="1" indent="-285750">
              <a:buFont typeface="+mj-lt"/>
              <a:buAutoNum type="arabicPeriod"/>
            </a:pPr>
            <a:r>
              <a:rPr lang="id-ID" sz="3200" dirty="0"/>
              <a:t>Tanyakan pada diri sendiri: “Apa akibatnya jika aku marah sekarang?”</a:t>
            </a:r>
          </a:p>
          <a:p>
            <a:pPr>
              <a:buFont typeface="+mj-lt"/>
              <a:buAutoNum type="arabicPeriod"/>
            </a:pPr>
            <a:r>
              <a:rPr lang="id-ID" sz="3200" b="1" dirty="0"/>
              <a:t>Bicarakan Perasaanmu</a:t>
            </a:r>
            <a:r>
              <a:rPr lang="id-ID" sz="3200" dirty="0"/>
              <a:t>:</a:t>
            </a:r>
          </a:p>
          <a:p>
            <a:pPr marL="742950" lvl="1" indent="-285750">
              <a:buFont typeface="+mj-lt"/>
              <a:buAutoNum type="arabicPeriod"/>
            </a:pPr>
            <a:r>
              <a:rPr lang="id-ID" sz="3200" dirty="0"/>
              <a:t>Ceritakan pada teman, guru, atau keluarga yang kamu percaya.</a:t>
            </a:r>
          </a:p>
          <a:p>
            <a:pPr>
              <a:buFont typeface="+mj-lt"/>
              <a:buAutoNum type="arabicPeriod"/>
            </a:pPr>
            <a:r>
              <a:rPr lang="id-ID" sz="3200" b="1" dirty="0"/>
              <a:t>Cari Solusi</a:t>
            </a:r>
            <a:r>
              <a:rPr lang="id-ID" sz="3200" dirty="0"/>
              <a:t>:</a:t>
            </a:r>
          </a:p>
          <a:p>
            <a:pPr marL="742950" lvl="1" indent="-285750">
              <a:buFont typeface="+mj-lt"/>
              <a:buAutoNum type="arabicPeriod"/>
            </a:pPr>
            <a:r>
              <a:rPr lang="id-ID" sz="3200" dirty="0"/>
              <a:t>Misalnya, jika marah karena tugas menumpuk, buat jadwal belajar.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59787" y="4514215"/>
            <a:ext cx="10909784" cy="10868872"/>
          </a:xfrm>
          <a:custGeom>
            <a:avLst/>
            <a:gdLst/>
            <a:ahLst/>
            <a:cxnLst/>
            <a:rect l="l" t="t" r="r" b="b"/>
            <a:pathLst>
              <a:path w="10909784" h="10868872">
                <a:moveTo>
                  <a:pt x="0" y="0"/>
                </a:moveTo>
                <a:lnTo>
                  <a:pt x="10909784" y="0"/>
                </a:lnTo>
                <a:lnTo>
                  <a:pt x="10909784" y="10868872"/>
                </a:lnTo>
                <a:lnTo>
                  <a:pt x="0" y="1086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418613" y="-3175385"/>
            <a:ext cx="10909784" cy="10868872"/>
          </a:xfrm>
          <a:custGeom>
            <a:avLst/>
            <a:gdLst/>
            <a:ahLst/>
            <a:cxnLst/>
            <a:rect l="l" t="t" r="r" b="b"/>
            <a:pathLst>
              <a:path w="10909784" h="10868872">
                <a:moveTo>
                  <a:pt x="0" y="0"/>
                </a:moveTo>
                <a:lnTo>
                  <a:pt x="10909784" y="0"/>
                </a:lnTo>
                <a:lnTo>
                  <a:pt x="10909784" y="10868872"/>
                </a:lnTo>
                <a:lnTo>
                  <a:pt x="0" y="1086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4514228" y="2387104"/>
            <a:ext cx="11693208" cy="6162670"/>
            <a:chOff x="0" y="0"/>
            <a:chExt cx="3079693" cy="1623090"/>
          </a:xfrm>
        </p:grpSpPr>
        <p:sp>
          <p:nvSpPr>
            <p:cNvPr id="5" name="Freeform 5"/>
            <p:cNvSpPr/>
            <p:nvPr/>
          </p:nvSpPr>
          <p:spPr>
            <a:xfrm>
              <a:off x="0" y="0"/>
              <a:ext cx="3079693" cy="1623090"/>
            </a:xfrm>
            <a:custGeom>
              <a:avLst/>
              <a:gdLst/>
              <a:ahLst/>
              <a:cxnLst/>
              <a:rect l="l" t="t" r="r" b="b"/>
              <a:pathLst>
                <a:path w="3079693" h="1623090">
                  <a:moveTo>
                    <a:pt x="28470" y="0"/>
                  </a:moveTo>
                  <a:lnTo>
                    <a:pt x="3051223" y="0"/>
                  </a:lnTo>
                  <a:cubicBezTo>
                    <a:pt x="3066946" y="0"/>
                    <a:pt x="3079693" y="12746"/>
                    <a:pt x="3079693" y="28470"/>
                  </a:cubicBezTo>
                  <a:lnTo>
                    <a:pt x="3079693" y="1594620"/>
                  </a:lnTo>
                  <a:cubicBezTo>
                    <a:pt x="3079693" y="1610344"/>
                    <a:pt x="3066946" y="1623090"/>
                    <a:pt x="3051223" y="1623090"/>
                  </a:cubicBezTo>
                  <a:lnTo>
                    <a:pt x="28470" y="1623090"/>
                  </a:lnTo>
                  <a:cubicBezTo>
                    <a:pt x="12746" y="1623090"/>
                    <a:pt x="0" y="1610344"/>
                    <a:pt x="0" y="1594620"/>
                  </a:cubicBezTo>
                  <a:lnTo>
                    <a:pt x="0" y="28470"/>
                  </a:lnTo>
                  <a:cubicBezTo>
                    <a:pt x="0" y="12746"/>
                    <a:pt x="12746" y="0"/>
                    <a:pt x="28470" y="0"/>
                  </a:cubicBezTo>
                  <a:close/>
                </a:path>
              </a:pathLst>
            </a:custGeom>
            <a:solidFill>
              <a:srgbClr val="FFF4EA"/>
            </a:solidFill>
            <a:ln w="19050" cap="rnd">
              <a:solidFill>
                <a:srgbClr val="372A28"/>
              </a:solidFill>
              <a:prstDash val="solid"/>
              <a:round/>
            </a:ln>
          </p:spPr>
        </p:sp>
        <p:sp>
          <p:nvSpPr>
            <p:cNvPr id="6" name="TextBox 6"/>
            <p:cNvSpPr txBox="1"/>
            <p:nvPr/>
          </p:nvSpPr>
          <p:spPr>
            <a:xfrm>
              <a:off x="0" y="-38100"/>
              <a:ext cx="3079693" cy="166119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677428" y="1689300"/>
            <a:ext cx="4805411" cy="10390079"/>
          </a:xfrm>
          <a:custGeom>
            <a:avLst/>
            <a:gdLst/>
            <a:ahLst/>
            <a:cxnLst/>
            <a:rect l="l" t="t" r="r" b="b"/>
            <a:pathLst>
              <a:path w="4805411" h="10390079">
                <a:moveTo>
                  <a:pt x="0" y="0"/>
                </a:moveTo>
                <a:lnTo>
                  <a:pt x="4805411" y="0"/>
                </a:lnTo>
                <a:lnTo>
                  <a:pt x="4805411" y="10390079"/>
                </a:lnTo>
                <a:lnTo>
                  <a:pt x="0" y="1039007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8" name="TextBox 8"/>
          <p:cNvSpPr txBox="1"/>
          <p:nvPr/>
        </p:nvSpPr>
        <p:spPr>
          <a:xfrm>
            <a:off x="7768628" y="6817664"/>
            <a:ext cx="6797208" cy="986329"/>
          </a:xfrm>
          <a:prstGeom prst="rect">
            <a:avLst/>
          </a:prstGeom>
        </p:spPr>
        <p:txBody>
          <a:bodyPr lIns="0" tIns="0" rIns="0" bIns="0" rtlCol="0" anchor="t">
            <a:spAutoFit/>
          </a:bodyPr>
          <a:lstStyle/>
          <a:p>
            <a:pPr algn="ctr">
              <a:lnSpc>
                <a:spcPts val="3902"/>
              </a:lnSpc>
              <a:spcBef>
                <a:spcPct val="0"/>
              </a:spcBef>
            </a:pPr>
            <a:r>
              <a:rPr lang="en-US" sz="2787">
                <a:solidFill>
                  <a:srgbClr val="372A28"/>
                </a:solidFill>
                <a:latin typeface="Ahkio Thin"/>
                <a:ea typeface="Ahkio Thin"/>
                <a:cs typeface="Ahkio Thin"/>
                <a:sym typeface="Ahkio Thin"/>
              </a:rPr>
              <a:t>"You don’t have to control your thoughts. You just have to stop letting them control you."</a:t>
            </a:r>
          </a:p>
        </p:txBody>
      </p:sp>
      <p:sp>
        <p:nvSpPr>
          <p:cNvPr id="9" name="TextBox 9"/>
          <p:cNvSpPr txBox="1"/>
          <p:nvPr/>
        </p:nvSpPr>
        <p:spPr>
          <a:xfrm>
            <a:off x="7257428" y="4523740"/>
            <a:ext cx="7819608" cy="1590749"/>
          </a:xfrm>
          <a:prstGeom prst="rect">
            <a:avLst/>
          </a:prstGeom>
        </p:spPr>
        <p:txBody>
          <a:bodyPr lIns="0" tIns="0" rIns="0" bIns="0" rtlCol="0" anchor="t">
            <a:spAutoFit/>
          </a:bodyPr>
          <a:lstStyle/>
          <a:p>
            <a:pPr algn="ctr">
              <a:lnSpc>
                <a:spcPts val="6299"/>
              </a:lnSpc>
              <a:spcBef>
                <a:spcPct val="0"/>
              </a:spcBef>
            </a:pPr>
            <a:r>
              <a:rPr lang="en-US" sz="4500">
                <a:solidFill>
                  <a:srgbClr val="372A28"/>
                </a:solidFill>
                <a:latin typeface="Ahkio Thin"/>
                <a:ea typeface="Ahkio Thin"/>
                <a:cs typeface="Ahkio Thin"/>
                <a:sym typeface="Ahkio Thin"/>
              </a:rPr>
              <a:t>Mengelola emosi dan stres adalah investasi untuk kebahagiaan Anda.</a:t>
            </a:r>
          </a:p>
        </p:txBody>
      </p:sp>
      <p:sp>
        <p:nvSpPr>
          <p:cNvPr id="10" name="TextBox 10"/>
          <p:cNvSpPr txBox="1"/>
          <p:nvPr/>
        </p:nvSpPr>
        <p:spPr>
          <a:xfrm>
            <a:off x="6947828" y="3337853"/>
            <a:ext cx="8890040" cy="1168326"/>
          </a:xfrm>
          <a:prstGeom prst="rect">
            <a:avLst/>
          </a:prstGeom>
        </p:spPr>
        <p:txBody>
          <a:bodyPr lIns="0" tIns="0" rIns="0" bIns="0" rtlCol="0" anchor="t">
            <a:spAutoFit/>
          </a:bodyPr>
          <a:lstStyle/>
          <a:p>
            <a:pPr algn="l">
              <a:lnSpc>
                <a:spcPts val="8800"/>
              </a:lnSpc>
            </a:pPr>
            <a:r>
              <a:rPr lang="en-US" sz="8000" b="1">
                <a:solidFill>
                  <a:srgbClr val="003395"/>
                </a:solidFill>
                <a:latin typeface="Ahkio Bold"/>
                <a:ea typeface="Ahkio Bold"/>
                <a:cs typeface="Ahkio Bold"/>
                <a:sym typeface="Ahkio Bold"/>
              </a:rPr>
              <a:t>Penutup dan Motivasi</a:t>
            </a:r>
          </a:p>
        </p:txBody>
      </p:sp>
      <p:sp>
        <p:nvSpPr>
          <p:cNvPr id="11" name="Freeform 11"/>
          <p:cNvSpPr/>
          <p:nvPr/>
        </p:nvSpPr>
        <p:spPr>
          <a:xfrm>
            <a:off x="14110817" y="1539916"/>
            <a:ext cx="2096618" cy="298768"/>
          </a:xfrm>
          <a:custGeom>
            <a:avLst/>
            <a:gdLst/>
            <a:ahLst/>
            <a:cxnLst/>
            <a:rect l="l" t="t" r="r" b="b"/>
            <a:pathLst>
              <a:path w="2096618" h="298768">
                <a:moveTo>
                  <a:pt x="0" y="0"/>
                </a:moveTo>
                <a:lnTo>
                  <a:pt x="2096618" y="0"/>
                </a:lnTo>
                <a:lnTo>
                  <a:pt x="2096618" y="298768"/>
                </a:lnTo>
                <a:lnTo>
                  <a:pt x="0" y="298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956604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642</Words>
  <Application>Microsoft Office PowerPoint</Application>
  <PresentationFormat>Custom</PresentationFormat>
  <Paragraphs>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Arial</vt:lpstr>
      <vt:lpstr>Ahkio Thin</vt:lpstr>
      <vt:lpstr>Adolescence</vt:lpstr>
      <vt:lpstr>Ahkio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Kelola Emosi</dc:title>
  <dc:creator>ARIK CARLITA</dc:creator>
  <cp:lastModifiedBy>ASUS</cp:lastModifiedBy>
  <cp:revision>12</cp:revision>
  <dcterms:created xsi:type="dcterms:W3CDTF">2006-08-16T00:00:00Z</dcterms:created>
  <dcterms:modified xsi:type="dcterms:W3CDTF">2026-08-09T23:47:17Z</dcterms:modified>
  <dc:identifier>DAG0csBiVRs</dc:identifier>
</cp:coreProperties>
</file>